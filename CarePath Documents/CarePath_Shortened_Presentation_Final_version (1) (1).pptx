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zJWL8bpDRAmTj6eAWh4X3Y690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customschemas.google.com/relationships/presentationmetadata" Target="metadata"/><Relationship Id="rId10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AI-generated content may be incorrect.</a:t>
            </a:r>
            <a:br>
              <a:rPr lang="en-US"/>
            </a:br>
            <a:br>
              <a:rPr lang="en-US"/>
            </a:br>
            <a:r>
              <a:rPr lang="en-US"/>
              <a:t>---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433" name="Google Shape;4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The primary goals of CarePath include: providing AI-assisted preliminary disease detection, ensuring secure storage and retrieval of patient data, maintaining compliance with healthcare regulations such as HIPAA and PHIPA, and delivering a user-friendly interface for patients, doctors, and administrators. These objectives collectively aim to enhance healthcare efficiency, improve patient outcomes, and uphold data integrity.</a:t>
            </a:r>
            <a:endParaRPr/>
          </a:p>
        </p:txBody>
      </p:sp>
      <p:sp>
        <p:nvSpPr>
          <p:cNvPr id="441" name="Google Shape;4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The initial class diagram featured a basic structure with abstract user classes and limited relationships. It provided a starting point for modeling system entities but lacked detailed controllers and value objects necessary for implementing design patterns.</a:t>
            </a:r>
            <a:endParaRPr/>
          </a:p>
        </p:txBody>
      </p:sp>
      <p:sp>
        <p:nvSpPr>
          <p:cNvPr id="449" name="Google Shape;4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The initial class diagram featured a basic structure with abstract user classes and limited relationships. It provided a starting point for modeling system entities but lacked detailed controllers and value objects necessary for implementing design patterns.</a:t>
            </a:r>
            <a:endParaRPr/>
          </a:p>
        </p:txBody>
      </p:sp>
      <p:sp>
        <p:nvSpPr>
          <p:cNvPr id="457" name="Google Shape;4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CarePath successfully addresses the need for early disease detection through AI-assisted predictions while ensuring security and compliance. Its modular architecture, refined design, and adherence to best practices make it a reliable solution for modern healthcare challenges.</a:t>
            </a:r>
            <a:endParaRPr/>
          </a:p>
        </p:txBody>
      </p:sp>
      <p:sp>
        <p:nvSpPr>
          <p:cNvPr id="465" name="Google Shape;4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3">
  <p:cSld name="Title with Picture 3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7846390" y="1411358"/>
            <a:ext cx="3736010" cy="28455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7846388" y="4403039"/>
            <a:ext cx="3729915" cy="1123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7"/>
          <p:cNvPicPr preferRelativeResize="0"/>
          <p:nvPr>
            <p:ph idx="2" type="pic"/>
          </p:nvPr>
        </p:nvPicPr>
        <p:blipFill/>
        <p:spPr>
          <a:xfrm>
            <a:off x="0" y="0"/>
            <a:ext cx="7617785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9" name="Google Shape;19;p7"/>
          <p:cNvSpPr txBox="1"/>
          <p:nvPr>
            <p:ph idx="11" type="ftr"/>
          </p:nvPr>
        </p:nvSpPr>
        <p:spPr>
          <a:xfrm>
            <a:off x="7846388" y="6438900"/>
            <a:ext cx="1714301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7">
  <p:cSld name="Content with Picture 17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1090940" y="1120990"/>
            <a:ext cx="4194291" cy="15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" name="Google Shape;24;p8"/>
          <p:cNvPicPr preferRelativeResize="0"/>
          <p:nvPr>
            <p:ph idx="2" type="pic"/>
          </p:nvPr>
        </p:nvPicPr>
        <p:blipFill/>
        <p:spPr>
          <a:xfrm>
            <a:off x="1181100" y="2840181"/>
            <a:ext cx="4104132" cy="3446317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5" name="Google Shape;25;p8"/>
          <p:cNvSpPr txBox="1"/>
          <p:nvPr>
            <p:ph idx="1" type="body"/>
          </p:nvPr>
        </p:nvSpPr>
        <p:spPr>
          <a:xfrm>
            <a:off x="5571977" y="1120989"/>
            <a:ext cx="6143988" cy="5165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" name="Google Shape;29;p8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>
  <p:cSld name="Content with Picture 8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1098396" y="1111101"/>
            <a:ext cx="3813845" cy="1493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1098397" y="2700671"/>
            <a:ext cx="3813846" cy="358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" name="Google Shape;33;p9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1098395" y="6438900"/>
            <a:ext cx="22493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3437937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4310805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9"/>
          <p:cNvPicPr preferRelativeResize="0"/>
          <p:nvPr>
            <p:ph idx="2" type="pic"/>
          </p:nvPr>
        </p:nvPicPr>
        <p:blipFill/>
        <p:spPr>
          <a:xfrm>
            <a:off x="5192232" y="0"/>
            <a:ext cx="6999768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>
  <p:cSld name="Content with Picture 7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7311355" y="1111101"/>
            <a:ext cx="3813845" cy="149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10"/>
          <p:cNvPicPr preferRelativeResize="0"/>
          <p:nvPr>
            <p:ph idx="2" type="pic"/>
          </p:nvPr>
        </p:nvPicPr>
        <p:blipFill/>
        <p:spPr>
          <a:xfrm>
            <a:off x="12192" y="0"/>
            <a:ext cx="6999768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7311355" y="2700671"/>
            <a:ext cx="3813846" cy="358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2" name="Google Shape;42;p10"/>
          <p:cNvCxnSpPr/>
          <p:nvPr/>
        </p:nvCxnSpPr>
        <p:spPr>
          <a:xfrm rot="10800000">
            <a:off x="11375613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7311355" y="6438900"/>
            <a:ext cx="224933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82296" y="64007"/>
            <a:ext cx="12015216" cy="5120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Arial"/>
              <a:buNone/>
              <a:defRPr sz="11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1088136" y="5360878"/>
            <a:ext cx="100370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11387805" y="5749927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1088136" y="1090246"/>
            <a:ext cx="10840626" cy="790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1088135" y="1880756"/>
            <a:ext cx="10840627" cy="4558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2"/>
          <p:cNvCxnSpPr/>
          <p:nvPr/>
        </p:nvCxnSpPr>
        <p:spPr>
          <a:xfrm>
            <a:off x="0" y="120586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 showMasterSp="0">
  <p:cSld name="Title 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1088136" y="1095763"/>
            <a:ext cx="9598152" cy="4144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088136" y="5240329"/>
            <a:ext cx="7769354" cy="1012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" name="Google Shape;66;p13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 showMasterSp="0">
  <p:cSld name="Title 3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1088136" y="1689380"/>
            <a:ext cx="7876287" cy="36141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1088136" y="5306113"/>
            <a:ext cx="7375466" cy="10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4"/>
          <p:cNvCxnSpPr/>
          <p:nvPr/>
        </p:nvCxnSpPr>
        <p:spPr>
          <a:xfrm>
            <a:off x="-6626" y="4965465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">
  <p:cSld name="Title 4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088136" y="1090244"/>
            <a:ext cx="10058400" cy="402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15"/>
          <p:cNvCxnSpPr/>
          <p:nvPr/>
        </p:nvCxnSpPr>
        <p:spPr>
          <a:xfrm>
            <a:off x="0" y="120586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" name="Google Shape;80;p15"/>
          <p:cNvSpPr txBox="1"/>
          <p:nvPr>
            <p:ph idx="1" type="subTitle"/>
          </p:nvPr>
        </p:nvSpPr>
        <p:spPr>
          <a:xfrm>
            <a:off x="1088136" y="5360878"/>
            <a:ext cx="1001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5" showMasterSp="0">
  <p:cSld name="Title 5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2296" y="64007"/>
            <a:ext cx="12015216" cy="5120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Arial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1088136" y="5348178"/>
            <a:ext cx="100370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4" name="Google Shape;84;p16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6"/>
          <p:cNvCxnSpPr/>
          <p:nvPr/>
        </p:nvCxnSpPr>
        <p:spPr>
          <a:xfrm>
            <a:off x="11387805" y="5749927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6" showMasterSp="0">
  <p:cSld name="Title 6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82296" y="64008"/>
            <a:ext cx="8229600" cy="2621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3513954" y="4431379"/>
            <a:ext cx="7611246" cy="1465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7"/>
          <p:cNvCxnSpPr/>
          <p:nvPr/>
        </p:nvCxnSpPr>
        <p:spPr>
          <a:xfrm>
            <a:off x="11387805" y="5715292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>
  <p:cSld name="Title with Pictur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1087847" y="4676177"/>
            <a:ext cx="10835639" cy="13195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1087847" y="6065134"/>
            <a:ext cx="10835639" cy="3737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8" name="Google Shape;98;p18"/>
          <p:cNvPicPr preferRelativeResize="0"/>
          <p:nvPr>
            <p:ph idx="2" type="pic"/>
          </p:nvPr>
        </p:nvPicPr>
        <p:blipFill/>
        <p:spPr>
          <a:xfrm>
            <a:off x="0" y="1"/>
            <a:ext cx="12191999" cy="446782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99" name="Google Shape;99;p18"/>
          <p:cNvCxnSpPr/>
          <p:nvPr/>
        </p:nvCxnSpPr>
        <p:spPr>
          <a:xfrm>
            <a:off x="0" y="5715000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2">
  <p:cSld name="Title with Picture 2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7208905" y="284481"/>
            <a:ext cx="4244009" cy="4320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7208905" y="4827642"/>
            <a:ext cx="3916294" cy="10336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6" name="Google Shape;106;p19"/>
          <p:cNvPicPr preferRelativeResize="0"/>
          <p:nvPr>
            <p:ph idx="2" type="pic"/>
          </p:nvPr>
        </p:nvPicPr>
        <p:blipFill/>
        <p:spPr>
          <a:xfrm>
            <a:off x="0" y="0"/>
            <a:ext cx="6967075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07" name="Google Shape;107;p19"/>
          <p:cNvSpPr txBox="1"/>
          <p:nvPr>
            <p:ph idx="11" type="ftr"/>
          </p:nvPr>
        </p:nvSpPr>
        <p:spPr>
          <a:xfrm>
            <a:off x="7208906" y="6438900"/>
            <a:ext cx="235178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0" name="Google Shape;110;p19"/>
          <p:cNvCxnSpPr/>
          <p:nvPr/>
        </p:nvCxnSpPr>
        <p:spPr>
          <a:xfrm>
            <a:off x="11387805" y="5715292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4">
  <p:cSld name="Title with Picture 4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1081055" y="1111101"/>
            <a:ext cx="4179762" cy="3935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1091688" y="5190622"/>
            <a:ext cx="4179762" cy="10958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14" name="Google Shape;114;p20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1091689" y="6430037"/>
            <a:ext cx="2604618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0" type="dt"/>
          </p:nvPr>
        </p:nvSpPr>
        <p:spPr>
          <a:xfrm>
            <a:off x="3786513" y="6430037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4659381" y="6430037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20"/>
          <p:cNvPicPr preferRelativeResize="0"/>
          <p:nvPr>
            <p:ph idx="2" type="pic"/>
          </p:nvPr>
        </p:nvPicPr>
        <p:blipFill/>
        <p:spPr>
          <a:xfrm>
            <a:off x="5500050" y="0"/>
            <a:ext cx="669195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088136" y="1090244"/>
            <a:ext cx="10037064" cy="5159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4" name="Google Shape;124;p21"/>
          <p:cNvCxnSpPr/>
          <p:nvPr/>
        </p:nvCxnSpPr>
        <p:spPr>
          <a:xfrm>
            <a:off x="0" y="120586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90940" y="1088702"/>
            <a:ext cx="8479072" cy="139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1096697" y="2484255"/>
            <a:ext cx="8467558" cy="3539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1" name="Google Shape;131;p22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>
  <p:cSld name="Agenda with Pictur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88136" y="1088136"/>
            <a:ext cx="57493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1088136" y="2651760"/>
            <a:ext cx="5749392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TR"/>
              <a:buChar char="-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1" type="ftr"/>
          </p:nvPr>
        </p:nvSpPr>
        <p:spPr>
          <a:xfrm>
            <a:off x="1090940" y="6438900"/>
            <a:ext cx="39154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5006344" y="6438900"/>
            <a:ext cx="112612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6132464" y="6438900"/>
            <a:ext cx="70506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>
            <p:ph idx="2" type="pic"/>
          </p:nvPr>
        </p:nvPicPr>
        <p:blipFill/>
        <p:spPr>
          <a:xfrm>
            <a:off x="7315200" y="0"/>
            <a:ext cx="487680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139" name="Google Shape;139;p23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 2">
  <p:cSld name="Agenda with Picture 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5587999" y="405240"/>
            <a:ext cx="5916508" cy="1819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2" name="Google Shape;142;p24"/>
          <p:cNvPicPr preferRelativeResize="0"/>
          <p:nvPr>
            <p:ph idx="2" type="pic"/>
          </p:nvPr>
        </p:nvPicPr>
        <p:blipFill/>
        <p:spPr>
          <a:xfrm>
            <a:off x="1" y="0"/>
            <a:ext cx="4565591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5588000" y="2481119"/>
            <a:ext cx="5916507" cy="3394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4" name="Google Shape;144;p24"/>
          <p:cNvCxnSpPr/>
          <p:nvPr/>
        </p:nvCxnSpPr>
        <p:spPr>
          <a:xfrm>
            <a:off x="11387805" y="5715292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24"/>
          <p:cNvSpPr txBox="1"/>
          <p:nvPr>
            <p:ph idx="11" type="ftr"/>
          </p:nvPr>
        </p:nvSpPr>
        <p:spPr>
          <a:xfrm>
            <a:off x="5588000" y="6438900"/>
            <a:ext cx="39726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1088136" y="1090244"/>
            <a:ext cx="4659277" cy="1669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6444588" y="1090244"/>
            <a:ext cx="4680612" cy="167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4" name="Google Shape;154;p25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1087676" y="1114856"/>
            <a:ext cx="3493858" cy="3456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5263141" y="1115290"/>
            <a:ext cx="5862059" cy="346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1" name="Google Shape;161;p26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1087676" y="1114856"/>
            <a:ext cx="3923455" cy="4083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5294612" y="1115290"/>
            <a:ext cx="5809713" cy="5171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8" name="Google Shape;168;p27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1085733" y="1119386"/>
            <a:ext cx="3496147" cy="4940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4863418" y="1119386"/>
            <a:ext cx="6242849" cy="4940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5" name="Google Shape;175;p28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1083701" y="1114655"/>
            <a:ext cx="2771326" cy="36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4134532" y="1129145"/>
            <a:ext cx="7794231" cy="5157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29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2" name="Google Shape;182;p29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>
  <p:cSld name="Content with Pictur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4785788" y="1111101"/>
            <a:ext cx="63394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5" name="Google Shape;185;p30"/>
          <p:cNvPicPr preferRelativeResize="0"/>
          <p:nvPr>
            <p:ph idx="2" type="pic"/>
          </p:nvPr>
        </p:nvPicPr>
        <p:blipFill/>
        <p:spPr>
          <a:xfrm>
            <a:off x="12192" y="0"/>
            <a:ext cx="4506585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4785787" y="2402887"/>
            <a:ext cx="6339414" cy="3883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7" name="Google Shape;187;p30"/>
          <p:cNvCxnSpPr/>
          <p:nvPr/>
        </p:nvCxnSpPr>
        <p:spPr>
          <a:xfrm rot="10800000">
            <a:off x="11375613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30"/>
          <p:cNvSpPr txBox="1"/>
          <p:nvPr>
            <p:ph idx="11" type="ftr"/>
          </p:nvPr>
        </p:nvSpPr>
        <p:spPr>
          <a:xfrm>
            <a:off x="4785788" y="6438900"/>
            <a:ext cx="477490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0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>
  <p:cSld name="Content with Picture 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1097780" y="1111101"/>
            <a:ext cx="633954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1097907" y="2402887"/>
            <a:ext cx="6339414" cy="3883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4" name="Google Shape;194;p31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31"/>
          <p:cNvSpPr txBox="1"/>
          <p:nvPr>
            <p:ph idx="11" type="ftr"/>
          </p:nvPr>
        </p:nvSpPr>
        <p:spPr>
          <a:xfrm>
            <a:off x="1097781" y="6438900"/>
            <a:ext cx="477503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1"/>
          <p:cNvSpPr txBox="1"/>
          <p:nvPr>
            <p:ph idx="10" type="dt"/>
          </p:nvPr>
        </p:nvSpPr>
        <p:spPr>
          <a:xfrm>
            <a:off x="5963017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1"/>
          <p:cNvSpPr txBox="1"/>
          <p:nvPr>
            <p:ph idx="12" type="sldNum"/>
          </p:nvPr>
        </p:nvSpPr>
        <p:spPr>
          <a:xfrm>
            <a:off x="6835885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8" name="Google Shape;198;p31"/>
          <p:cNvPicPr preferRelativeResize="0"/>
          <p:nvPr>
            <p:ph idx="2" type="pic"/>
          </p:nvPr>
        </p:nvPicPr>
        <p:blipFill/>
        <p:spPr>
          <a:xfrm>
            <a:off x="7685414" y="0"/>
            <a:ext cx="4506585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>
  <p:cSld name="Content with Picture 3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776991" y="1112104"/>
            <a:ext cx="7321615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1" name="Google Shape;201;p32"/>
          <p:cNvPicPr preferRelativeResize="0"/>
          <p:nvPr>
            <p:ph idx="2" type="pic"/>
          </p:nvPr>
        </p:nvPicPr>
        <p:blipFill/>
        <p:spPr>
          <a:xfrm>
            <a:off x="0" y="0"/>
            <a:ext cx="3526439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776075" y="2187258"/>
            <a:ext cx="7349126" cy="4099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3" name="Google Shape;203;p32"/>
          <p:cNvCxnSpPr/>
          <p:nvPr/>
        </p:nvCxnSpPr>
        <p:spPr>
          <a:xfrm rot="10800000">
            <a:off x="11375613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776076" y="6438900"/>
            <a:ext cx="578461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>
  <p:cSld name="Content with Picture 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1093394" y="1112104"/>
            <a:ext cx="7343564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093393" y="2187258"/>
            <a:ext cx="7343565" cy="4099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10" name="Google Shape;210;p33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1093394" y="6438900"/>
            <a:ext cx="577905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10" type="dt"/>
          </p:nvPr>
        </p:nvSpPr>
        <p:spPr>
          <a:xfrm>
            <a:off x="6962654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7835522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p33"/>
          <p:cNvPicPr preferRelativeResize="0"/>
          <p:nvPr>
            <p:ph idx="2" type="pic"/>
          </p:nvPr>
        </p:nvPicPr>
        <p:blipFill/>
        <p:spPr>
          <a:xfrm>
            <a:off x="8665559" y="0"/>
            <a:ext cx="3526439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>
  <p:cSld name="Content with Picture 5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6386751" y="1115736"/>
            <a:ext cx="4738450" cy="1283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7" name="Google Shape;217;p34"/>
          <p:cNvPicPr preferRelativeResize="0"/>
          <p:nvPr>
            <p:ph idx="2" type="pic"/>
          </p:nvPr>
        </p:nvPicPr>
        <p:blipFill/>
        <p:spPr>
          <a:xfrm>
            <a:off x="0" y="0"/>
            <a:ext cx="609600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6386751" y="2552124"/>
            <a:ext cx="4738450" cy="3734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19" name="Google Shape;219;p34"/>
          <p:cNvCxnSpPr/>
          <p:nvPr/>
        </p:nvCxnSpPr>
        <p:spPr>
          <a:xfrm rot="10800000">
            <a:off x="11375613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34"/>
          <p:cNvSpPr txBox="1"/>
          <p:nvPr>
            <p:ph idx="11" type="ftr"/>
          </p:nvPr>
        </p:nvSpPr>
        <p:spPr>
          <a:xfrm>
            <a:off x="6386752" y="6438900"/>
            <a:ext cx="3173938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4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>
  <p:cSld name="Content with Picture 6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1088066" y="1115736"/>
            <a:ext cx="4738583" cy="128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1088192" y="2552124"/>
            <a:ext cx="4738450" cy="3734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6" name="Google Shape;226;p35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7" name="Google Shape;227;p35"/>
          <p:cNvSpPr txBox="1"/>
          <p:nvPr>
            <p:ph idx="11" type="ftr"/>
          </p:nvPr>
        </p:nvSpPr>
        <p:spPr>
          <a:xfrm>
            <a:off x="1088066" y="6438900"/>
            <a:ext cx="317406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5"/>
          <p:cNvSpPr txBox="1"/>
          <p:nvPr>
            <p:ph idx="10" type="dt"/>
          </p:nvPr>
        </p:nvSpPr>
        <p:spPr>
          <a:xfrm>
            <a:off x="4352338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5225206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p35"/>
          <p:cNvPicPr preferRelativeResize="0"/>
          <p:nvPr>
            <p:ph idx="2" type="pic"/>
          </p:nvPr>
        </p:nvPicPr>
        <p:blipFill/>
        <p:spPr>
          <a:xfrm>
            <a:off x="6096000" y="0"/>
            <a:ext cx="609600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>
  <p:cSld name="Content with Picture 9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 flipH="1">
            <a:off x="7894207" y="1112431"/>
            <a:ext cx="3230993" cy="1858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3" name="Google Shape;233;p36"/>
          <p:cNvPicPr preferRelativeResize="0"/>
          <p:nvPr>
            <p:ph idx="2" type="pic"/>
          </p:nvPr>
        </p:nvPicPr>
        <p:blipFill/>
        <p:spPr>
          <a:xfrm>
            <a:off x="12192" y="0"/>
            <a:ext cx="7481777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7901280" y="3133255"/>
            <a:ext cx="3223920" cy="265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5" name="Google Shape;235;p36"/>
          <p:cNvCxnSpPr/>
          <p:nvPr/>
        </p:nvCxnSpPr>
        <p:spPr>
          <a:xfrm rot="10800000">
            <a:off x="11375613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6" name="Google Shape;236;p36"/>
          <p:cNvSpPr txBox="1"/>
          <p:nvPr>
            <p:ph idx="11" type="ftr"/>
          </p:nvPr>
        </p:nvSpPr>
        <p:spPr>
          <a:xfrm>
            <a:off x="7894207" y="6438900"/>
            <a:ext cx="166648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6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0">
  <p:cSld name="Content with Picture 10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1091746" y="1112431"/>
            <a:ext cx="3230992" cy="1858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1092741" y="3133255"/>
            <a:ext cx="3223920" cy="265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42" name="Google Shape;242;p37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p37"/>
          <p:cNvSpPr txBox="1"/>
          <p:nvPr>
            <p:ph idx="11" type="ftr"/>
          </p:nvPr>
        </p:nvSpPr>
        <p:spPr>
          <a:xfrm>
            <a:off x="1091746" y="6438900"/>
            <a:ext cx="165600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7"/>
          <p:cNvSpPr txBox="1"/>
          <p:nvPr>
            <p:ph idx="10" type="dt"/>
          </p:nvPr>
        </p:nvSpPr>
        <p:spPr>
          <a:xfrm>
            <a:off x="2837954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7"/>
          <p:cNvSpPr txBox="1"/>
          <p:nvPr>
            <p:ph idx="12" type="sldNum"/>
          </p:nvPr>
        </p:nvSpPr>
        <p:spPr>
          <a:xfrm>
            <a:off x="3710822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6" name="Google Shape;246;p37"/>
          <p:cNvPicPr preferRelativeResize="0"/>
          <p:nvPr>
            <p:ph idx="2" type="pic"/>
          </p:nvPr>
        </p:nvPicPr>
        <p:blipFill/>
        <p:spPr>
          <a:xfrm>
            <a:off x="4710223" y="0"/>
            <a:ext cx="7481777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1">
  <p:cSld name="Content with Picture 1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1103132" y="4454843"/>
            <a:ext cx="2734129" cy="198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9" name="Google Shape;249;p38"/>
          <p:cNvPicPr preferRelativeResize="0"/>
          <p:nvPr>
            <p:ph idx="2" type="pic"/>
          </p:nvPr>
        </p:nvPicPr>
        <p:blipFill/>
        <p:spPr>
          <a:xfrm>
            <a:off x="0" y="6911"/>
            <a:ext cx="12192000" cy="4136455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4136199" y="4454843"/>
            <a:ext cx="7579766" cy="198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51" name="Google Shape;251;p38"/>
          <p:cNvCxnSpPr/>
          <p:nvPr/>
        </p:nvCxnSpPr>
        <p:spPr>
          <a:xfrm>
            <a:off x="0" y="4569435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2" name="Google Shape;252;p38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8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38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2">
  <p:cSld name="Content with Picture 12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1115324" y="3987802"/>
            <a:ext cx="3044954" cy="2309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39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3443331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58" name="Google Shape;258;p39"/>
          <p:cNvSpPr txBox="1"/>
          <p:nvPr>
            <p:ph idx="1" type="body"/>
          </p:nvPr>
        </p:nvSpPr>
        <p:spPr>
          <a:xfrm>
            <a:off x="4255935" y="3987802"/>
            <a:ext cx="7460029" cy="2309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59" name="Google Shape;259;p39"/>
          <p:cNvCxnSpPr/>
          <p:nvPr/>
        </p:nvCxnSpPr>
        <p:spPr>
          <a:xfrm>
            <a:off x="0" y="4115092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p39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9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9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3">
  <p:cSld name="Content with Picture 13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1088305" y="1111141"/>
            <a:ext cx="3021873" cy="192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4394288" y="1033272"/>
            <a:ext cx="7188111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66" name="Google Shape;266;p40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40"/>
          <p:cNvSpPr txBox="1"/>
          <p:nvPr>
            <p:ph idx="11" type="ftr"/>
          </p:nvPr>
        </p:nvSpPr>
        <p:spPr>
          <a:xfrm>
            <a:off x="1088136" y="349893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0"/>
          <p:cNvSpPr txBox="1"/>
          <p:nvPr>
            <p:ph idx="10" type="dt"/>
          </p:nvPr>
        </p:nvSpPr>
        <p:spPr>
          <a:xfrm>
            <a:off x="9650896" y="349893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10523764" y="349893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0" name="Google Shape;270;p40"/>
          <p:cNvPicPr preferRelativeResize="0"/>
          <p:nvPr>
            <p:ph idx="2" type="pic"/>
          </p:nvPr>
        </p:nvPicPr>
        <p:blipFill/>
        <p:spPr>
          <a:xfrm>
            <a:off x="-1" y="3914863"/>
            <a:ext cx="12192000" cy="294313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4">
  <p:cSld name="Content with Picture 14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1090940" y="1120990"/>
            <a:ext cx="104773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1090940" y="2286008"/>
            <a:ext cx="4876515" cy="4033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74" name="Google Shape;274;p41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5" name="Google Shape;275;p41"/>
          <p:cNvSpPr txBox="1"/>
          <p:nvPr>
            <p:ph idx="11" type="ftr"/>
          </p:nvPr>
        </p:nvSpPr>
        <p:spPr>
          <a:xfrm>
            <a:off x="1090941" y="6438900"/>
            <a:ext cx="33120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1"/>
          <p:cNvSpPr txBox="1"/>
          <p:nvPr>
            <p:ph idx="10" type="dt"/>
          </p:nvPr>
        </p:nvSpPr>
        <p:spPr>
          <a:xfrm>
            <a:off x="4493151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1"/>
          <p:cNvSpPr txBox="1"/>
          <p:nvPr>
            <p:ph idx="12" type="sldNum"/>
          </p:nvPr>
        </p:nvSpPr>
        <p:spPr>
          <a:xfrm>
            <a:off x="5366019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8" name="Google Shape;278;p41"/>
          <p:cNvPicPr preferRelativeResize="0"/>
          <p:nvPr>
            <p:ph idx="2" type="pic"/>
          </p:nvPr>
        </p:nvPicPr>
        <p:blipFill/>
        <p:spPr>
          <a:xfrm>
            <a:off x="6096000" y="2286008"/>
            <a:ext cx="6096000" cy="4571992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5">
  <p:cSld name="Content with Picture 15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>
            <p:ph type="title"/>
          </p:nvPr>
        </p:nvSpPr>
        <p:spPr>
          <a:xfrm>
            <a:off x="1090940" y="1120990"/>
            <a:ext cx="104773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1" type="body"/>
          </p:nvPr>
        </p:nvSpPr>
        <p:spPr>
          <a:xfrm>
            <a:off x="1090940" y="2286008"/>
            <a:ext cx="4876515" cy="4033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82" name="Google Shape;282;p42"/>
          <p:cNvPicPr preferRelativeResize="0"/>
          <p:nvPr>
            <p:ph idx="2" type="pic"/>
          </p:nvPr>
        </p:nvPicPr>
        <p:blipFill/>
        <p:spPr>
          <a:xfrm>
            <a:off x="6096000" y="2286008"/>
            <a:ext cx="5472260" cy="4033964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cxnSp>
        <p:nvCxnSpPr>
          <p:cNvPr id="283" name="Google Shape;283;p42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42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2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6">
  <p:cSld name="Content with Picture 16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1090940" y="1120990"/>
            <a:ext cx="104773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9" name="Google Shape;289;p43"/>
          <p:cNvPicPr preferRelativeResize="0"/>
          <p:nvPr>
            <p:ph idx="2" type="pic"/>
          </p:nvPr>
        </p:nvPicPr>
        <p:blipFill/>
        <p:spPr>
          <a:xfrm>
            <a:off x="1" y="2286008"/>
            <a:ext cx="6096000" cy="4571992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90" name="Google Shape;290;p43"/>
          <p:cNvSpPr txBox="1"/>
          <p:nvPr>
            <p:ph idx="1" type="body"/>
          </p:nvPr>
        </p:nvSpPr>
        <p:spPr>
          <a:xfrm>
            <a:off x="6691745" y="2286008"/>
            <a:ext cx="4876515" cy="4000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91" name="Google Shape;291;p43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2" name="Google Shape;292;p43"/>
          <p:cNvSpPr txBox="1"/>
          <p:nvPr>
            <p:ph idx="11" type="ftr"/>
          </p:nvPr>
        </p:nvSpPr>
        <p:spPr>
          <a:xfrm>
            <a:off x="6691744" y="6438900"/>
            <a:ext cx="2959151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3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3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8" showMasterSp="0">
  <p:cSld name="Content with Picture 18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type="title"/>
          </p:nvPr>
        </p:nvSpPr>
        <p:spPr>
          <a:xfrm>
            <a:off x="1090940" y="1122200"/>
            <a:ext cx="3696859" cy="15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7" name="Google Shape;297;p44"/>
          <p:cNvPicPr preferRelativeResize="0"/>
          <p:nvPr>
            <p:ph idx="2" type="pic"/>
          </p:nvPr>
        </p:nvPicPr>
        <p:blipFill/>
        <p:spPr>
          <a:xfrm>
            <a:off x="1181100" y="2840181"/>
            <a:ext cx="3606699" cy="3446317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98" name="Google Shape;298;p44"/>
          <p:cNvSpPr txBox="1"/>
          <p:nvPr>
            <p:ph idx="1" type="body"/>
          </p:nvPr>
        </p:nvSpPr>
        <p:spPr>
          <a:xfrm>
            <a:off x="5113673" y="1122201"/>
            <a:ext cx="6602291" cy="5164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44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44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4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2" name="Google Shape;302;p44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 showMasterSp="0">
  <p:cSld name="Number Large">
    <p:bg>
      <p:bgPr>
        <a:solidFill>
          <a:schemeClr val="dk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type="title"/>
          </p:nvPr>
        </p:nvSpPr>
        <p:spPr>
          <a:xfrm>
            <a:off x="4647304" y="4757193"/>
            <a:ext cx="6477896" cy="1126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sz="2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45"/>
          <p:cNvSpPr txBox="1"/>
          <p:nvPr>
            <p:ph idx="1" type="body"/>
          </p:nvPr>
        </p:nvSpPr>
        <p:spPr>
          <a:xfrm>
            <a:off x="82296" y="64008"/>
            <a:ext cx="12027408" cy="4600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0"/>
              <a:buNone/>
              <a:defRPr b="1" sz="31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45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5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45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9" name="Google Shape;309;p45"/>
          <p:cNvCxnSpPr/>
          <p:nvPr/>
        </p:nvCxnSpPr>
        <p:spPr>
          <a:xfrm>
            <a:off x="11387805" y="5715000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2" showMasterSp="0">
  <p:cSld name="Number Large 2"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>
            <p:ph type="title"/>
          </p:nvPr>
        </p:nvSpPr>
        <p:spPr>
          <a:xfrm>
            <a:off x="2377440" y="4809744"/>
            <a:ext cx="752551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sz="2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6"/>
          <p:cNvSpPr txBox="1"/>
          <p:nvPr>
            <p:ph idx="1" type="body"/>
          </p:nvPr>
        </p:nvSpPr>
        <p:spPr>
          <a:xfrm>
            <a:off x="822960" y="603504"/>
            <a:ext cx="1054303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00"/>
              <a:buNone/>
              <a:defRPr b="1" sz="23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46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46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6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3" showMasterSp="0">
  <p:cSld name="Number Large 3">
    <p:bg>
      <p:bgPr>
        <a:solidFill>
          <a:schemeClr val="dk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type="title"/>
          </p:nvPr>
        </p:nvSpPr>
        <p:spPr>
          <a:xfrm>
            <a:off x="1088136" y="4297680"/>
            <a:ext cx="752551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7"/>
          <p:cNvSpPr txBox="1"/>
          <p:nvPr>
            <p:ph idx="1" type="body"/>
          </p:nvPr>
        </p:nvSpPr>
        <p:spPr>
          <a:xfrm>
            <a:off x="1002790" y="417576"/>
            <a:ext cx="10713173" cy="3706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00"/>
              <a:buNone/>
              <a:defRPr b="1" sz="23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9" name="Google Shape;319;p47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47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7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2" name="Google Shape;322;p47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/>
          <p:nvPr>
            <p:ph type="title"/>
          </p:nvPr>
        </p:nvSpPr>
        <p:spPr>
          <a:xfrm>
            <a:off x="612648" y="-1286261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1088136" y="1039095"/>
            <a:ext cx="9418320" cy="507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48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48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48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9" name="Google Shape;329;p48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bg>
      <p:bgPr>
        <a:solidFill>
          <a:schemeClr val="dk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type="title"/>
          </p:nvPr>
        </p:nvSpPr>
        <p:spPr>
          <a:xfrm>
            <a:off x="612648" y="-1286261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49"/>
          <p:cNvSpPr txBox="1"/>
          <p:nvPr>
            <p:ph idx="1" type="body"/>
          </p:nvPr>
        </p:nvSpPr>
        <p:spPr>
          <a:xfrm>
            <a:off x="1088136" y="1039095"/>
            <a:ext cx="9418320" cy="507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9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6" name="Google Shape;336;p49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/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0"/>
          <p:cNvSpPr txBox="1"/>
          <p:nvPr>
            <p:ph idx="1" type="body"/>
          </p:nvPr>
        </p:nvSpPr>
        <p:spPr>
          <a:xfrm>
            <a:off x="1088136" y="962895"/>
            <a:ext cx="9418320" cy="5070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0" name="Google Shape;340;p50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0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3" name="Google Shape;343;p50"/>
          <p:cNvCxnSpPr/>
          <p:nvPr/>
        </p:nvCxnSpPr>
        <p:spPr>
          <a:xfrm>
            <a:off x="0" y="5715292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/>
          <p:nvPr>
            <p:ph type="title"/>
          </p:nvPr>
        </p:nvSpPr>
        <p:spPr>
          <a:xfrm>
            <a:off x="1066800" y="5418360"/>
            <a:ext cx="10058400" cy="4663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1" type="body"/>
          </p:nvPr>
        </p:nvSpPr>
        <p:spPr>
          <a:xfrm>
            <a:off x="95250" y="63500"/>
            <a:ext cx="11977688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51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0" name="Google Shape;350;p51"/>
          <p:cNvCxnSpPr/>
          <p:nvPr/>
        </p:nvCxnSpPr>
        <p:spPr>
          <a:xfrm>
            <a:off x="11387805" y="5715292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solidFill>
          <a:schemeClr val="dk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/>
          <p:nvPr>
            <p:ph type="title"/>
          </p:nvPr>
        </p:nvSpPr>
        <p:spPr>
          <a:xfrm>
            <a:off x="1066800" y="5418360"/>
            <a:ext cx="9229888" cy="4663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2"/>
          <p:cNvSpPr txBox="1"/>
          <p:nvPr>
            <p:ph idx="1" type="body"/>
          </p:nvPr>
        </p:nvSpPr>
        <p:spPr>
          <a:xfrm>
            <a:off x="1097824" y="1041245"/>
            <a:ext cx="919886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52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52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52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7" name="Google Shape;357;p52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1066800" y="5418360"/>
            <a:ext cx="9229888" cy="4663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body"/>
          </p:nvPr>
        </p:nvSpPr>
        <p:spPr>
          <a:xfrm>
            <a:off x="1097824" y="1041245"/>
            <a:ext cx="919886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3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4" name="Google Shape;364;p53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4"/>
          <p:cNvSpPr txBox="1"/>
          <p:nvPr>
            <p:ph type="title"/>
          </p:nvPr>
        </p:nvSpPr>
        <p:spPr>
          <a:xfrm>
            <a:off x="1088136" y="1119132"/>
            <a:ext cx="9890066" cy="1204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1082185" y="2440568"/>
            <a:ext cx="4841505" cy="380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8" name="Google Shape;368;p54"/>
          <p:cNvSpPr txBox="1"/>
          <p:nvPr>
            <p:ph idx="2" type="body"/>
          </p:nvPr>
        </p:nvSpPr>
        <p:spPr>
          <a:xfrm>
            <a:off x="6172200" y="2440568"/>
            <a:ext cx="4806002" cy="3801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54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4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2" name="Google Shape;372;p54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 txBox="1"/>
          <p:nvPr>
            <p:ph type="title"/>
          </p:nvPr>
        </p:nvSpPr>
        <p:spPr>
          <a:xfrm>
            <a:off x="1090940" y="1115329"/>
            <a:ext cx="9949455" cy="838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idx="1" type="body"/>
          </p:nvPr>
        </p:nvSpPr>
        <p:spPr>
          <a:xfrm>
            <a:off x="1092088" y="1923190"/>
            <a:ext cx="4816475" cy="838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6" name="Google Shape;376;p55"/>
          <p:cNvSpPr txBox="1"/>
          <p:nvPr>
            <p:ph idx="2" type="body"/>
          </p:nvPr>
        </p:nvSpPr>
        <p:spPr>
          <a:xfrm>
            <a:off x="6215482" y="1923190"/>
            <a:ext cx="4824913" cy="838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7" name="Google Shape;377;p55"/>
          <p:cNvSpPr txBox="1"/>
          <p:nvPr>
            <p:ph idx="3" type="body"/>
          </p:nvPr>
        </p:nvSpPr>
        <p:spPr>
          <a:xfrm>
            <a:off x="1092088" y="2825791"/>
            <a:ext cx="4816475" cy="3363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55"/>
          <p:cNvSpPr txBox="1"/>
          <p:nvPr>
            <p:ph idx="4" type="body"/>
          </p:nvPr>
        </p:nvSpPr>
        <p:spPr>
          <a:xfrm>
            <a:off x="6215482" y="2825791"/>
            <a:ext cx="4824913" cy="3363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9" name="Google Shape;379;p55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55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5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2" name="Google Shape;382;p55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type="title"/>
          </p:nvPr>
        </p:nvSpPr>
        <p:spPr>
          <a:xfrm>
            <a:off x="1088136" y="1104100"/>
            <a:ext cx="9922764" cy="1294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8" name="Google Shape;388;p56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7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57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/>
          <p:nvPr>
            <p:ph type="title"/>
          </p:nvPr>
        </p:nvSpPr>
        <p:spPr>
          <a:xfrm>
            <a:off x="1090940" y="1114007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58"/>
          <p:cNvSpPr txBox="1"/>
          <p:nvPr>
            <p:ph idx="1" type="body"/>
          </p:nvPr>
        </p:nvSpPr>
        <p:spPr>
          <a:xfrm>
            <a:off x="1090940" y="3151191"/>
            <a:ext cx="3595634" cy="31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96" name="Google Shape;396;p58"/>
          <p:cNvSpPr txBox="1"/>
          <p:nvPr>
            <p:ph idx="2" type="body"/>
          </p:nvPr>
        </p:nvSpPr>
        <p:spPr>
          <a:xfrm>
            <a:off x="5275706" y="1114007"/>
            <a:ext cx="6440258" cy="516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58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8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0" name="Google Shape;400;p58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 ">
  <p:cSld name="Picture with Caption 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 txBox="1"/>
          <p:nvPr>
            <p:ph type="title"/>
          </p:nvPr>
        </p:nvSpPr>
        <p:spPr>
          <a:xfrm>
            <a:off x="1090940" y="1121098"/>
            <a:ext cx="3595634" cy="1585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59"/>
          <p:cNvSpPr txBox="1"/>
          <p:nvPr>
            <p:ph idx="1" type="body"/>
          </p:nvPr>
        </p:nvSpPr>
        <p:spPr>
          <a:xfrm>
            <a:off x="1090940" y="2812473"/>
            <a:ext cx="3585586" cy="33289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404" name="Google Shape;404;p59"/>
          <p:cNvPicPr preferRelativeResize="0"/>
          <p:nvPr>
            <p:ph idx="2" type="pic"/>
          </p:nvPr>
        </p:nvPicPr>
        <p:blipFill/>
        <p:spPr>
          <a:xfrm>
            <a:off x="5576327" y="1143000"/>
            <a:ext cx="6139637" cy="4998395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05" name="Google Shape;405;p59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59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59"/>
          <p:cNvSpPr txBox="1"/>
          <p:nvPr>
            <p:ph idx="12" type="sldNum"/>
          </p:nvPr>
        </p:nvSpPr>
        <p:spPr>
          <a:xfrm>
            <a:off x="10515600" y="6438900"/>
            <a:ext cx="609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8" name="Google Shape;408;p59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bg>
      <p:bgPr>
        <a:solidFill>
          <a:schemeClr val="dk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type="title"/>
          </p:nvPr>
        </p:nvSpPr>
        <p:spPr>
          <a:xfrm>
            <a:off x="1088136" y="1088135"/>
            <a:ext cx="10627828" cy="2084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60"/>
          <p:cNvSpPr txBox="1"/>
          <p:nvPr>
            <p:ph idx="1" type="body"/>
          </p:nvPr>
        </p:nvSpPr>
        <p:spPr>
          <a:xfrm>
            <a:off x="1088134" y="3276600"/>
            <a:ext cx="10627829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60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60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60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5" name="Google Shape;415;p60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chemeClr val="dk1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1"/>
          <p:cNvSpPr txBox="1"/>
          <p:nvPr>
            <p:ph type="title"/>
          </p:nvPr>
        </p:nvSpPr>
        <p:spPr>
          <a:xfrm>
            <a:off x="1088136" y="1088136"/>
            <a:ext cx="8430767" cy="184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61"/>
          <p:cNvSpPr txBox="1"/>
          <p:nvPr>
            <p:ph idx="1" type="body"/>
          </p:nvPr>
        </p:nvSpPr>
        <p:spPr>
          <a:xfrm>
            <a:off x="1077213" y="4246692"/>
            <a:ext cx="8430639" cy="16080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p61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61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61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2" name="Google Shape;422;p61"/>
          <p:cNvCxnSpPr/>
          <p:nvPr/>
        </p:nvCxnSpPr>
        <p:spPr>
          <a:xfrm>
            <a:off x="0" y="1206128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3">
  <p:cSld name="Conclusion 3">
    <p:bg>
      <p:bgPr>
        <a:solidFill>
          <a:schemeClr val="dk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2"/>
          <p:cNvSpPr txBox="1"/>
          <p:nvPr>
            <p:ph type="title"/>
          </p:nvPr>
        </p:nvSpPr>
        <p:spPr>
          <a:xfrm>
            <a:off x="82296" y="64009"/>
            <a:ext cx="12015216" cy="33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62"/>
          <p:cNvSpPr txBox="1"/>
          <p:nvPr>
            <p:ph idx="1" type="body"/>
          </p:nvPr>
        </p:nvSpPr>
        <p:spPr>
          <a:xfrm>
            <a:off x="4647304" y="3673928"/>
            <a:ext cx="6477896" cy="2180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62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62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62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9" name="Google Shape;429;p62"/>
          <p:cNvCxnSpPr/>
          <p:nvPr/>
        </p:nvCxnSpPr>
        <p:spPr>
          <a:xfrm>
            <a:off x="11387805" y="5749927"/>
            <a:ext cx="804195" cy="0"/>
          </a:xfrm>
          <a:prstGeom prst="straightConnector1">
            <a:avLst/>
          </a:prstGeom>
          <a:noFill/>
          <a:ln cap="flat" cmpd="sng" w="1206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1" type="ftr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0" type="dt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44">
          <p15:clr>
            <a:srgbClr val="F26B43"/>
          </p15:clr>
        </p15:guide>
        <p15:guide id="2">
          <p15:clr>
            <a:srgbClr val="F26B43"/>
          </p15:clr>
        </p15:guide>
        <p15:guide id="3" pos="6936">
          <p15:clr>
            <a:srgbClr val="F26B43"/>
          </p15:clr>
        </p15:guide>
        <p15:guide id="4" orient="horz" pos="720">
          <p15:clr>
            <a:srgbClr val="F26B43"/>
          </p15:clr>
        </p15:guide>
        <p15:guide id="5" pos="6624">
          <p15:clr>
            <a:srgbClr val="F26B43"/>
          </p15:clr>
        </p15:guide>
        <p15:guide id="6" orient="horz" pos="360">
          <p15:clr>
            <a:srgbClr val="F26B43"/>
          </p15:clr>
        </p15:guide>
        <p15:guide id="7" orient="horz" pos="3960">
          <p15:clr>
            <a:srgbClr val="F26B43"/>
          </p15:clr>
        </p15:guide>
        <p15:guide id="8" orient="horz" pos="2160">
          <p15:clr>
            <a:srgbClr val="F26B43"/>
          </p15:clr>
        </p15:guide>
        <p15:guide id="9" pos="7680">
          <p15:clr>
            <a:srgbClr val="F26B43"/>
          </p15:clr>
        </p15:guide>
        <p15:guide id="10" pos="3840">
          <p15:clr>
            <a:srgbClr val="F26B43"/>
          </p15:clr>
        </p15:guide>
        <p15:guide id="11" pos="6168">
          <p15:clr>
            <a:srgbClr val="F26B43"/>
          </p15:clr>
        </p15:guide>
        <p15:guide id="12" pos="672">
          <p15:clr>
            <a:srgbClr val="F26B43"/>
          </p15:clr>
        </p15:guide>
        <p15:guide id="13" pos="7008">
          <p15:clr>
            <a:srgbClr val="F26B43"/>
          </p15:clr>
        </p15:guide>
        <p15:guide id="14" orient="horz" pos="4056">
          <p15:clr>
            <a:srgbClr val="F26B43"/>
          </p15:clr>
        </p15:guide>
        <p15:guide id="15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"/>
          <p:cNvSpPr txBox="1"/>
          <p:nvPr>
            <p:ph type="ctrTitle"/>
          </p:nvPr>
        </p:nvSpPr>
        <p:spPr>
          <a:xfrm>
            <a:off x="7846390" y="1411358"/>
            <a:ext cx="3736010" cy="28455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-US" sz="3300"/>
              <a:t>CAREPATH – HEALTHCARE SYSTEM DISEASE DETECTION (HSDD)</a:t>
            </a:r>
            <a:endParaRPr/>
          </a:p>
        </p:txBody>
      </p:sp>
      <p:sp>
        <p:nvSpPr>
          <p:cNvPr id="436" name="Google Shape;436;p1"/>
          <p:cNvSpPr txBox="1"/>
          <p:nvPr>
            <p:ph idx="1" type="subTitle"/>
          </p:nvPr>
        </p:nvSpPr>
        <p:spPr>
          <a:xfrm>
            <a:off x="7846388" y="4403038"/>
            <a:ext cx="3729915" cy="18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/>
              <a:t>Innovative technology to enhance medical diagnosis accuracy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/>
              <a:t>Group 1: Veezish Ahmad, Jessica Morcos, and Barbod Salehinoparvar</a:t>
            </a:r>
            <a:endParaRPr/>
          </a:p>
        </p:txBody>
      </p:sp>
      <p:pic>
        <p:nvPicPr>
          <p:cNvPr descr="An unrecognizable female doctor uses a digital tablet while working in a hospital. Icons such as a stethoscope, COVID-19 genome and a syringe are overlaid on the photo." id="437" name="Google Shape;437;p1"/>
          <p:cNvPicPr preferRelativeResize="0"/>
          <p:nvPr/>
        </p:nvPicPr>
        <p:blipFill rotWithShape="1">
          <a:blip r:embed="rId3">
            <a:alphaModFix/>
          </a:blip>
          <a:srcRect b="0" l="35391" r="2128" t="0"/>
          <a:stretch/>
        </p:blipFill>
        <p:spPr>
          <a:xfrm>
            <a:off x="20" y="10"/>
            <a:ext cx="7617765" cy="6857990"/>
          </a:xfrm>
          <a:custGeom>
            <a:rect b="b" l="l" r="r" t="t"/>
            <a:pathLst>
              <a:path extrusionOk="0" h="6858000" w="7195675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"/>
          <p:cNvSpPr txBox="1"/>
          <p:nvPr>
            <p:ph type="title"/>
          </p:nvPr>
        </p:nvSpPr>
        <p:spPr>
          <a:xfrm>
            <a:off x="1090940" y="1120990"/>
            <a:ext cx="4194291" cy="15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SYSTEM GOALS</a:t>
            </a:r>
            <a:endParaRPr/>
          </a:p>
        </p:txBody>
      </p:sp>
      <p:pic>
        <p:nvPicPr>
          <p:cNvPr descr="Insurance welfare for your health" id="444" name="Google Shape;444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22291" r="18167" t="0"/>
          <a:stretch/>
        </p:blipFill>
        <p:spPr>
          <a:xfrm>
            <a:off x="1181100" y="2840181"/>
            <a:ext cx="4104132" cy="3446317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"/>
          <p:cNvSpPr txBox="1"/>
          <p:nvPr>
            <p:ph idx="1" type="body"/>
          </p:nvPr>
        </p:nvSpPr>
        <p:spPr>
          <a:xfrm>
            <a:off x="5571977" y="1120989"/>
            <a:ext cx="6143988" cy="5165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/>
              <a:t>AI-Assisted Disease Detection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CarePath uses AI to provide preliminary detection of diseases, aiding early diagnosis and treatment.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/>
              <a:t>Secure Data Management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The system ensures secure storage and retrieval of patient data to protect privacy and integrity.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/>
              <a:t>Regulatory Compliance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CarePath maintains compliance with healthcare regulations like HIPAA and PHIPA to ensure legal standards.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/>
              <a:t>User-Friendly Interface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The platform delivers an intuitive interface designed for patients, doctors, and administrators' ease of use.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"/>
          <p:cNvSpPr txBox="1"/>
          <p:nvPr>
            <p:ph type="title"/>
          </p:nvPr>
        </p:nvSpPr>
        <p:spPr>
          <a:xfrm>
            <a:off x="1098396" y="1111101"/>
            <a:ext cx="3813845" cy="1493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INITIAL CLASS DIAGRAM</a:t>
            </a:r>
            <a:endParaRPr/>
          </a:p>
        </p:txBody>
      </p:sp>
      <p:sp>
        <p:nvSpPr>
          <p:cNvPr id="452" name="Google Shape;452;p3"/>
          <p:cNvSpPr txBox="1"/>
          <p:nvPr>
            <p:ph idx="1" type="body"/>
          </p:nvPr>
        </p:nvSpPr>
        <p:spPr>
          <a:xfrm>
            <a:off x="1098397" y="2700671"/>
            <a:ext cx="3813846" cy="358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/>
              <a:t>Basic Structure Overview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The diagram presented a basic framework focusing on abstract user classes and their minimal interactions.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/>
              <a:t>Limited Relationships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Relationships between classes were limited, reflecting an early stage of system modeling without complex associations.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/>
              <a:t>Missing Detailed Components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The diagram lacked detailed controllers and value objects needed to support design patterns implementation.</a:t>
            </a:r>
            <a:endParaRPr/>
          </a:p>
        </p:txBody>
      </p:sp>
      <p:pic>
        <p:nvPicPr>
          <p:cNvPr id="453" name="Google Shape;453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579" r="10579" t="0"/>
          <a:stretch/>
        </p:blipFill>
        <p:spPr>
          <a:xfrm>
            <a:off x="5192450" y="0"/>
            <a:ext cx="69993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"/>
          <p:cNvSpPr txBox="1"/>
          <p:nvPr>
            <p:ph type="title"/>
          </p:nvPr>
        </p:nvSpPr>
        <p:spPr>
          <a:xfrm>
            <a:off x="851896" y="993351"/>
            <a:ext cx="38139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UPDATED CLASS DIAGRAM</a:t>
            </a:r>
            <a:endParaRPr/>
          </a:p>
        </p:txBody>
      </p:sp>
      <p:sp>
        <p:nvSpPr>
          <p:cNvPr id="460" name="Google Shape;460;p4"/>
          <p:cNvSpPr txBox="1"/>
          <p:nvPr>
            <p:ph idx="1" type="body"/>
          </p:nvPr>
        </p:nvSpPr>
        <p:spPr>
          <a:xfrm>
            <a:off x="373447" y="3019571"/>
            <a:ext cx="3813900" cy="3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Refined Classes Overview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The class diagram includes key entities like Patient, Doctor, Al, Database, System, and Admin.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Controllers and Value Objects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Controllers and value objects are incorporated to manage business logic and data encapsulation effectively.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Design Principles Applied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The design follows GRASP and MVC principles to separate concerns and improve traceability.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pic>
        <p:nvPicPr>
          <p:cNvPr id="461" name="Google Shape;461;p4" title="Updated class diagram (2).jpg"/>
          <p:cNvPicPr preferRelativeResize="0"/>
          <p:nvPr/>
        </p:nvPicPr>
        <p:blipFill rotWithShape="1">
          <a:blip r:embed="rId3">
            <a:alphaModFix/>
          </a:blip>
          <a:srcRect b="2717" l="2755" r="20480" t="5167"/>
          <a:stretch/>
        </p:blipFill>
        <p:spPr>
          <a:xfrm>
            <a:off x="4004600" y="107300"/>
            <a:ext cx="8187402" cy="67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"/>
          <p:cNvSpPr txBox="1"/>
          <p:nvPr>
            <p:ph type="title"/>
          </p:nvPr>
        </p:nvSpPr>
        <p:spPr>
          <a:xfrm>
            <a:off x="7311355" y="1111101"/>
            <a:ext cx="3813845" cy="149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3200"/>
              <a:buFont typeface="Arial"/>
              <a:buNone/>
            </a:pPr>
            <a:r>
              <a:rPr i="0" lang="en-US" sz="3200" u="none" cap="none" strike="noStrike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MOVING TO LIVE DEMO</a:t>
            </a:r>
            <a:r>
              <a:rPr i="0" lang="en-US" sz="3200" u="none" strike="noStrike">
                <a:latin typeface="Arial"/>
                <a:ea typeface="Arial"/>
                <a:cs typeface="Arial"/>
                <a:sym typeface="Arial"/>
              </a:rPr>
              <a:t>​</a:t>
            </a:r>
            <a:endParaRPr sz="5400"/>
          </a:p>
        </p:txBody>
      </p:sp>
      <p:sp>
        <p:nvSpPr>
          <p:cNvPr id="468" name="Google Shape;468;p5"/>
          <p:cNvSpPr txBox="1"/>
          <p:nvPr>
            <p:ph idx="1" type="body"/>
          </p:nvPr>
        </p:nvSpPr>
        <p:spPr>
          <a:xfrm>
            <a:off x="7311355" y="2700671"/>
            <a:ext cx="3813846" cy="358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/>
              <a:t>Feature Demonstration</a:t>
            </a:r>
            <a:r>
              <a:rPr lang="en-US"/>
              <a:t>​</a:t>
            </a:r>
            <a:endParaRPr/>
          </a:p>
          <a:p>
            <a:pPr indent="-184150" lvl="0" marL="28575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/>
          </a:p>
          <a:p>
            <a:pPr indent="-285750" lvl="0" marL="28575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/>
              <a:t>Doctor Annotation Workflow</a:t>
            </a:r>
            <a:r>
              <a:rPr lang="en-US"/>
              <a:t>​</a:t>
            </a:r>
            <a:endParaRPr/>
          </a:p>
          <a:p>
            <a:pPr indent="-184150" lvl="0" marL="28575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/>
          </a:p>
          <a:p>
            <a:pPr indent="-285750" lvl="0" marL="28575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/>
              <a:t>Unit Test Execution</a:t>
            </a:r>
            <a:r>
              <a:rPr lang="en-US"/>
              <a:t>​</a:t>
            </a:r>
            <a:endParaRPr/>
          </a:p>
        </p:txBody>
      </p:sp>
      <p:pic>
        <p:nvPicPr>
          <p:cNvPr descr="Healthcare and medicine. Medicine doctor analysis and diagnosis, checking health of patient online and testing result with modern virtual interface on laptop, online medical global network" id="469" name="Google Shape;4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00548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2022-04-13T19:23:35Z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